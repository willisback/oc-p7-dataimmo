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66" r:id="rId26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8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FiraCode Nerd Font" panose="02000009000000000000" pitchFamily="50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32" y="3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Le nombre de ventes d’appartement par région pour le 1er semestre 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Feuil1!$A$2:$A$18</c:f>
              <c:strCache>
                <c:ptCount val="17"/>
                <c:pt idx="0">
                  <c:v>Ile-de-France</c:v>
                </c:pt>
                <c:pt idx="1">
                  <c:v>Provence-Alpes-Côte d'Azur</c:v>
                </c:pt>
                <c:pt idx="2">
                  <c:v>Auvergne-Rhône-Alpes</c:v>
                </c:pt>
                <c:pt idx="3">
                  <c:v>Nouvelle-Aquitaine</c:v>
                </c:pt>
                <c:pt idx="4">
                  <c:v>Occitanie</c:v>
                </c:pt>
                <c:pt idx="5">
                  <c:v>Pays de la Loire</c:v>
                </c:pt>
                <c:pt idx="6">
                  <c:v>Hauts-de-France</c:v>
                </c:pt>
                <c:pt idx="7">
                  <c:v>Grand Est</c:v>
                </c:pt>
                <c:pt idx="8">
                  <c:v>Bretagne</c:v>
                </c:pt>
                <c:pt idx="9">
                  <c:v>Normandie</c:v>
                </c:pt>
                <c:pt idx="10">
                  <c:v>Centre-Val de Loire</c:v>
                </c:pt>
                <c:pt idx="11">
                  <c:v>Bourgogne-Franche-Comté</c:v>
                </c:pt>
                <c:pt idx="12">
                  <c:v>Corse</c:v>
                </c:pt>
                <c:pt idx="13">
                  <c:v>Martinique</c:v>
                </c:pt>
                <c:pt idx="14">
                  <c:v>La Réunion</c:v>
                </c:pt>
                <c:pt idx="15">
                  <c:v>Guyane</c:v>
                </c:pt>
                <c:pt idx="16">
                  <c:v>Guadeloupe</c:v>
                </c:pt>
              </c:strCache>
            </c:strRef>
          </c:cat>
          <c:val>
            <c:numRef>
              <c:f>Feuil1!$B$2:$B$18</c:f>
              <c:numCache>
                <c:formatCode>General</c:formatCode>
                <c:ptCount val="17"/>
                <c:pt idx="0">
                  <c:v>13995</c:v>
                </c:pt>
                <c:pt idx="1">
                  <c:v>3649</c:v>
                </c:pt>
                <c:pt idx="2">
                  <c:v>3253</c:v>
                </c:pt>
                <c:pt idx="3">
                  <c:v>1932</c:v>
                </c:pt>
                <c:pt idx="4">
                  <c:v>1640</c:v>
                </c:pt>
                <c:pt idx="5">
                  <c:v>1357</c:v>
                </c:pt>
                <c:pt idx="6">
                  <c:v>1254</c:v>
                </c:pt>
                <c:pt idx="7">
                  <c:v>984</c:v>
                </c:pt>
                <c:pt idx="8">
                  <c:v>983</c:v>
                </c:pt>
                <c:pt idx="9">
                  <c:v>862</c:v>
                </c:pt>
                <c:pt idx="10">
                  <c:v>696</c:v>
                </c:pt>
                <c:pt idx="11">
                  <c:v>376</c:v>
                </c:pt>
                <c:pt idx="12">
                  <c:v>223</c:v>
                </c:pt>
                <c:pt idx="13">
                  <c:v>94</c:v>
                </c:pt>
                <c:pt idx="14">
                  <c:v>44</c:v>
                </c:pt>
                <c:pt idx="15">
                  <c:v>34</c:v>
                </c:pt>
                <c:pt idx="1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C4-4FE5-B44C-99F8A715C5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65938687"/>
        <c:axId val="465941599"/>
      </c:barChart>
      <c:catAx>
        <c:axId val="465938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65941599"/>
        <c:crosses val="autoZero"/>
        <c:auto val="1"/>
        <c:lblAlgn val="ctr"/>
        <c:lblOffset val="100"/>
        <c:noMultiLvlLbl val="0"/>
      </c:catAx>
      <c:valAx>
        <c:axId val="465941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659386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Nombre de ventes / nombre de pièces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numRef>
              <c:f>Feuil1!$A$2:$A$13</c:f>
              <c:numCache>
                <c:formatCode>General</c:formatCode>
                <c:ptCount val="12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0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</c:numCache>
            </c:numRef>
          </c:cat>
          <c:val>
            <c:numRef>
              <c:f>Feuil1!$B$2:$B$13</c:f>
              <c:numCache>
                <c:formatCode>General</c:formatCode>
                <c:ptCount val="12"/>
                <c:pt idx="0">
                  <c:v>9783</c:v>
                </c:pt>
                <c:pt idx="1">
                  <c:v>8966</c:v>
                </c:pt>
                <c:pt idx="2">
                  <c:v>6739</c:v>
                </c:pt>
                <c:pt idx="3">
                  <c:v>4460</c:v>
                </c:pt>
                <c:pt idx="4">
                  <c:v>1114</c:v>
                </c:pt>
                <c:pt idx="5">
                  <c:v>204</c:v>
                </c:pt>
                <c:pt idx="6">
                  <c:v>54</c:v>
                </c:pt>
                <c:pt idx="7">
                  <c:v>30</c:v>
                </c:pt>
                <c:pt idx="8">
                  <c:v>17</c:v>
                </c:pt>
                <c:pt idx="9">
                  <c:v>8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8-4579-BFA8-201D8EF8196E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Département / prix m²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prix_m2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</c:dPt>
          <c:dPt>
            <c:idx val="3"/>
            <c:bubble3D val="0"/>
            <c:spPr>
              <a:pattFill prst="ltUpDiag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/>
                </a:innerShdw>
              </a:effectLst>
            </c:spPr>
          </c:dPt>
          <c:dPt>
            <c:idx val="4"/>
            <c:bubble3D val="0"/>
            <c:spPr>
              <a:pattFill prst="ltUpDiag">
                <a:fgClr>
                  <a:schemeClr val="accent5"/>
                </a:fgClr>
                <a:bgClr>
                  <a:schemeClr val="accent5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5"/>
                </a:innerShdw>
              </a:effectLst>
            </c:spPr>
          </c:dPt>
          <c:dPt>
            <c:idx val="5"/>
            <c:bubble3D val="0"/>
            <c:spPr>
              <a:pattFill prst="ltUpDiag">
                <a:fgClr>
                  <a:schemeClr val="accent6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/>
                </a:innerShdw>
              </a:effectLst>
            </c:spPr>
          </c:dPt>
          <c:dPt>
            <c:idx val="6"/>
            <c:bubble3D val="0"/>
            <c:spPr>
              <a:pattFill prst="ltUpDiag">
                <a:fgClr>
                  <a:schemeClr val="accent1">
                    <a:lumMod val="60000"/>
                  </a:schemeClr>
                </a:fgClr>
                <a:bgClr>
                  <a:schemeClr val="accent1">
                    <a:lumMod val="60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>
                    <a:lumMod val="60000"/>
                  </a:schemeClr>
                </a:innerShdw>
              </a:effectLst>
            </c:spPr>
          </c:dPt>
          <c:dPt>
            <c:idx val="7"/>
            <c:bubble3D val="0"/>
            <c:spPr>
              <a:pattFill prst="ltUpDiag">
                <a:fgClr>
                  <a:schemeClr val="accent2">
                    <a:lumMod val="60000"/>
                  </a:schemeClr>
                </a:fgClr>
                <a:bgClr>
                  <a:schemeClr val="accent2">
                    <a:lumMod val="60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>
                    <a:lumMod val="60000"/>
                  </a:schemeClr>
                </a:innerShdw>
              </a:effectLst>
            </c:spPr>
          </c:dPt>
          <c:dPt>
            <c:idx val="8"/>
            <c:bubble3D val="0"/>
            <c:spPr>
              <a:pattFill prst="ltUpDiag">
                <a:fgClr>
                  <a:schemeClr val="accent3">
                    <a:lumMod val="60000"/>
                  </a:schemeClr>
                </a:fgClr>
                <a:bgClr>
                  <a:schemeClr val="accent3">
                    <a:lumMod val="60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>
                    <a:lumMod val="60000"/>
                  </a:schemeClr>
                </a:innerShdw>
              </a:effectLst>
            </c:spPr>
          </c:dPt>
          <c:dPt>
            <c:idx val="9"/>
            <c:bubble3D val="0"/>
            <c:spPr>
              <a:pattFill prst="ltUpDiag">
                <a:fgClr>
                  <a:schemeClr val="accent4">
                    <a:lumMod val="60000"/>
                  </a:schemeClr>
                </a:fgClr>
                <a:bgClr>
                  <a:schemeClr val="accent4">
                    <a:lumMod val="60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>
                    <a:lumMod val="60000"/>
                  </a:schemeClr>
                </a:inn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Feuil1!$A$2:$A$11</c:f>
              <c:strCache>
                <c:ptCount val="10"/>
                <c:pt idx="0">
                  <c:v>75</c:v>
                </c:pt>
                <c:pt idx="1">
                  <c:v>6</c:v>
                </c:pt>
                <c:pt idx="2">
                  <c:v>34</c:v>
                </c:pt>
                <c:pt idx="3">
                  <c:v>73</c:v>
                </c:pt>
                <c:pt idx="4">
                  <c:v>35</c:v>
                </c:pt>
                <c:pt idx="5">
                  <c:v>5</c:v>
                </c:pt>
                <c:pt idx="6">
                  <c:v>92</c:v>
                </c:pt>
                <c:pt idx="7">
                  <c:v>78</c:v>
                </c:pt>
                <c:pt idx="8">
                  <c:v>2A</c:v>
                </c:pt>
                <c:pt idx="9">
                  <c:v>974</c:v>
                </c:pt>
              </c:strCache>
            </c:strRef>
          </c:cat>
          <c:val>
            <c:numRef>
              <c:f>Feuil1!$B$2:$B$11</c:f>
              <c:numCache>
                <c:formatCode>General</c:formatCode>
                <c:ptCount val="10"/>
                <c:pt idx="0">
                  <c:v>11880</c:v>
                </c:pt>
                <c:pt idx="1">
                  <c:v>9094</c:v>
                </c:pt>
                <c:pt idx="2">
                  <c:v>8332</c:v>
                </c:pt>
                <c:pt idx="3">
                  <c:v>7782</c:v>
                </c:pt>
                <c:pt idx="4">
                  <c:v>6411</c:v>
                </c:pt>
                <c:pt idx="5">
                  <c:v>5516</c:v>
                </c:pt>
                <c:pt idx="6">
                  <c:v>5414</c:v>
                </c:pt>
                <c:pt idx="7">
                  <c:v>5290</c:v>
                </c:pt>
                <c:pt idx="8">
                  <c:v>4975</c:v>
                </c:pt>
                <c:pt idx="9">
                  <c:v>4774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1B-4A34-A30F-ADDAB3C744A9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1573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013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1413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8619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89264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0989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83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11721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3123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0051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3076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0783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126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90407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William Derue</a:t>
            </a:r>
            <a:endParaRPr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/>
              <a:t>Contexte du projet</a:t>
            </a:r>
            <a:endParaRPr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Ce projet stratégique est appelé "DATAImmo".</a:t>
            </a:r>
            <a:endParaRPr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44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sz="1600"/>
              <a:t>Modification de la base de données.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sz="1600"/>
              <a:t>Collecter les transactions immobilières et foncières en France.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sz="1600"/>
              <a:t>Analyser le marché et aider les différentes agences régionales à mieux accompagner leurs clients.</a:t>
            </a:r>
            <a:endParaRPr sz="160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DATAImmo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89008" y="1285251"/>
            <a:ext cx="6978592" cy="3214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b="1"/>
              <a:t>La stratégie de sauvegarde de données 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b="1"/>
          </a:p>
          <a:p>
            <a:pPr marL="0" indent="0">
              <a:spcBef>
                <a:spcPts val="0"/>
              </a:spcBef>
              <a:buNone/>
            </a:pPr>
            <a:r>
              <a:rPr lang="fr-FR" sz="1200"/>
              <a:t>Notre objectif est de centraliser et agréger les données immobilières des agences régionales pour faciliter leur pilotage. Pour y parvenir, nous avons mis en place un dictionnaire de données robuste. Ce dictionnaire sauvegarde à la fois les données immobilières (prix, type de bien, etc.) et les données géographiques (localisation du bien).</a:t>
            </a:r>
            <a:br>
              <a:rPr lang="fr-FR" sz="1200"/>
            </a:br>
            <a:br>
              <a:rPr lang="fr-FR" sz="1200"/>
            </a:br>
            <a:r>
              <a:rPr lang="fr-FR" b="1"/>
              <a:t>Conformité RGPD et protection de la vie privée :</a:t>
            </a:r>
            <a:br>
              <a:rPr lang="fr-FR" b="1"/>
            </a:br>
            <a:br>
              <a:rPr lang="fr-FR" b="1"/>
            </a:br>
            <a:r>
              <a:rPr lang="fr-FR" sz="1200"/>
              <a:t>La protection des données personnelles est au cœur de notre stratégie. Pour assurer la conformité au RGPD, nous appliquons le principe de minimisation des données dès la sauvegarde.</a:t>
            </a:r>
          </a:p>
          <a:p>
            <a:pPr marL="171450" indent="-171450">
              <a:spcBef>
                <a:spcPts val="0"/>
              </a:spcBef>
            </a:pPr>
            <a:r>
              <a:rPr lang="fr-FR" sz="1200" u="sng"/>
              <a:t>Anonymisation </a:t>
            </a:r>
            <a:r>
              <a:rPr lang="fr-FR" sz="1200"/>
              <a:t>: Nous avons pris soin de supprimer toute mention de noms de vendeurs ou d'acheteurs.</a:t>
            </a:r>
          </a:p>
          <a:p>
            <a:pPr marL="171450" indent="-171450">
              <a:spcBef>
                <a:spcPts val="0"/>
              </a:spcBef>
            </a:pPr>
            <a:r>
              <a:rPr lang="fr-FR" sz="1200" u="sng"/>
              <a:t>Protection du patrimoine : </a:t>
            </a:r>
            <a:r>
              <a:rPr lang="fr-FR" sz="1200"/>
              <a:t>Les données sont conçues de manière à ce qu'il soit impossible, à partir des informations extraites, d'identifier une personne ou de déduire son patrimoine.</a:t>
            </a:r>
          </a:p>
          <a:p>
            <a:pPr marL="0" indent="0">
              <a:spcBef>
                <a:spcPts val="0"/>
              </a:spcBef>
              <a:buNone/>
            </a:pPr>
            <a:endParaRPr lang="fr-FR" sz="1200"/>
          </a:p>
          <a:p>
            <a:pPr marL="0" indent="0">
              <a:spcBef>
                <a:spcPts val="0"/>
              </a:spcBef>
              <a:buNone/>
            </a:pPr>
            <a:r>
              <a:rPr lang="fr-FR" sz="1200"/>
              <a:t>En résumé, l'essentiel à retenir :Besoin : Agréger les données immobilières pour le pilotage régional.Solution : Un dictionnaire de données centralisé et anonymisé.Priorité : Conformité RGPD et protection de la vie privée grâce à l'anonymisation des informations.</a:t>
            </a:r>
            <a:endParaRPr lang="fr-FR" sz="140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Donnees_communes.xlsx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/>
              <a:t>Données de l’INSEE avec les résultats des recensements de la population.</a:t>
            </a:r>
            <a:br>
              <a:rPr lang="fr-FR" sz="1400"/>
            </a:br>
            <a:r>
              <a:rPr lang="fr-FR" sz="1400"/>
              <a:t>https://www.insee.fr/fr/information/3544265</a:t>
            </a:r>
            <a:endParaRPr lang="fr" sz="1400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fr-esr-referentiel-geographique.xlsx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/>
              <a:t>Ce jeu de données fournit les différents niveaux d'agrégats géographiques associés aux communes françaises (situation au 1er janvier 2023).</a:t>
            </a:r>
            <a:br>
              <a:rPr lang="fr-FR" sz="1400"/>
            </a:br>
            <a:r>
              <a:rPr lang="fr-FR" sz="1400"/>
              <a:t>https://data.enseignementsup-recherche.gouv.fr/explore/dataset/fr-esr-referentiel-geographique/information/?flg=fr-fr</a:t>
            </a:r>
            <a:br>
              <a:rPr lang="fr-FR" sz="1400"/>
            </a:br>
            <a:endParaRPr lang="fr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valeurs-foncieres.xlsx </a:t>
            </a:r>
            <a:r>
              <a:rPr lang="fr">
                <a:sym typeface="Wingdings" panose="05000000000000000000" pitchFamily="2" charset="2"/>
              </a:rPr>
              <a:t> Tableau des transaction immobilieres 2020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/>
              <a:t>Les informations mises à disposition sont issues du traitement informatisé « Demande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400"/>
              <a:t>de valeurs foncières » alimenté par la « Base nationale des données patrimoniales ».</a:t>
            </a:r>
            <a:endParaRPr lang="fr" sz="1400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/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CA4DF454-D2FE-47D1-9317-A0BBB4E46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347446"/>
              </p:ext>
            </p:extLst>
          </p:nvPr>
        </p:nvGraphicFramePr>
        <p:xfrm>
          <a:off x="510704" y="1016301"/>
          <a:ext cx="2091280" cy="3658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640">
                  <a:extLst>
                    <a:ext uri="{9D8B030D-6E8A-4147-A177-3AD203B41FA5}">
                      <a16:colId xmlns:a16="http://schemas.microsoft.com/office/drawing/2014/main" val="788017791"/>
                    </a:ext>
                  </a:extLst>
                </a:gridCol>
                <a:gridCol w="1045640">
                  <a:extLst>
                    <a:ext uri="{9D8B030D-6E8A-4147-A177-3AD203B41FA5}">
                      <a16:colId xmlns:a16="http://schemas.microsoft.com/office/drawing/2014/main" val="1178272611"/>
                    </a:ext>
                  </a:extLst>
                </a:gridCol>
              </a:tblGrid>
              <a:tr h="279356">
                <a:tc gridSpan="2">
                  <a:txBody>
                    <a:bodyPr/>
                    <a:lstStyle/>
                    <a:p>
                      <a:r>
                        <a:rPr lang="fr-FR"/>
                        <a:t>Valeurs Foncieres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828207"/>
                  </a:ext>
                </a:extLst>
              </a:tr>
              <a:tr h="27935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No_voie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Numéro des rues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3543933"/>
                  </a:ext>
                </a:extLst>
              </a:tr>
              <a:tr h="465368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Type_de_voie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Plusieurs valeurs (rue, avenue, chemin, etc.)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4574547"/>
                  </a:ext>
                </a:extLst>
              </a:tr>
              <a:tr h="27935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Voie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de la rue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9622820"/>
                  </a:ext>
                </a:extLst>
              </a:tr>
              <a:tr h="313129">
                <a:tc>
                  <a:txBody>
                    <a:bodyPr/>
                    <a:lstStyle/>
                    <a:p>
                      <a:pPr algn="l" fontAlgn="t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B/T/Q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Complémentaire Bis  Tier  Quart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5520262"/>
                  </a:ext>
                </a:extLst>
              </a:tr>
              <a:tr h="31312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piece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de piece du bien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38632050"/>
                  </a:ext>
                </a:extLst>
              </a:tr>
              <a:tr h="31312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Surface_carrez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Surface de la propriété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7660330"/>
                  </a:ext>
                </a:extLst>
              </a:tr>
              <a:tr h="31312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Surface_local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Surface au sol du logement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6001314"/>
                  </a:ext>
                </a:extLst>
              </a:tr>
              <a:tr h="27935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Type_local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 d'habitation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4907008"/>
                  </a:ext>
                </a:extLst>
              </a:tr>
              <a:tr h="27935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transaction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 de la vente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2170696"/>
                  </a:ext>
                </a:extLst>
              </a:tr>
              <a:tr h="313129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Valeur fonciere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Valeur de la vente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6031048"/>
                  </a:ext>
                </a:extLst>
              </a:tr>
            </a:tbl>
          </a:graphicData>
        </a:graphic>
      </p:graphicFrame>
      <p:graphicFrame>
        <p:nvGraphicFramePr>
          <p:cNvPr id="10" name="Tableau 4">
            <a:extLst>
              <a:ext uri="{FF2B5EF4-FFF2-40B4-BE49-F238E27FC236}">
                <a16:creationId xmlns:a16="http://schemas.microsoft.com/office/drawing/2014/main" id="{64A349E5-6925-4EA1-883B-1C822316F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423122"/>
              </p:ext>
            </p:extLst>
          </p:nvPr>
        </p:nvGraphicFramePr>
        <p:xfrm>
          <a:off x="4033162" y="1017748"/>
          <a:ext cx="2091280" cy="1114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640">
                  <a:extLst>
                    <a:ext uri="{9D8B030D-6E8A-4147-A177-3AD203B41FA5}">
                      <a16:colId xmlns:a16="http://schemas.microsoft.com/office/drawing/2014/main" val="788017791"/>
                    </a:ext>
                  </a:extLst>
                </a:gridCol>
                <a:gridCol w="1045640">
                  <a:extLst>
                    <a:ext uri="{9D8B030D-6E8A-4147-A177-3AD203B41FA5}">
                      <a16:colId xmlns:a16="http://schemas.microsoft.com/office/drawing/2014/main" val="1178272611"/>
                    </a:ext>
                  </a:extLst>
                </a:gridCol>
              </a:tblGrid>
              <a:tr h="279356">
                <a:tc gridSpan="2">
                  <a:txBody>
                    <a:bodyPr/>
                    <a:lstStyle/>
                    <a:p>
                      <a:r>
                        <a:rPr lang="fr-FR"/>
                        <a:t>Ref. géographique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828207"/>
                  </a:ext>
                </a:extLst>
              </a:tr>
              <a:tr h="27935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id_Region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identifiant de la région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3543933"/>
                  </a:ext>
                </a:extLst>
              </a:tr>
              <a:tr h="465368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Nom_Region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 de la région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4574547"/>
                  </a:ext>
                </a:extLst>
              </a:tr>
            </a:tbl>
          </a:graphicData>
        </a:graphic>
      </p:graphicFrame>
      <p:graphicFrame>
        <p:nvGraphicFramePr>
          <p:cNvPr id="11" name="Tableau 4">
            <a:extLst>
              <a:ext uri="{FF2B5EF4-FFF2-40B4-BE49-F238E27FC236}">
                <a16:creationId xmlns:a16="http://schemas.microsoft.com/office/drawing/2014/main" id="{C36AD908-1CBC-40EA-92EC-FE733EF61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568796"/>
              </p:ext>
            </p:extLst>
          </p:nvPr>
        </p:nvGraphicFramePr>
        <p:xfrm>
          <a:off x="4033162" y="2525607"/>
          <a:ext cx="2091280" cy="2149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640">
                  <a:extLst>
                    <a:ext uri="{9D8B030D-6E8A-4147-A177-3AD203B41FA5}">
                      <a16:colId xmlns:a16="http://schemas.microsoft.com/office/drawing/2014/main" val="788017791"/>
                    </a:ext>
                  </a:extLst>
                </a:gridCol>
                <a:gridCol w="1045640">
                  <a:extLst>
                    <a:ext uri="{9D8B030D-6E8A-4147-A177-3AD203B41FA5}">
                      <a16:colId xmlns:a16="http://schemas.microsoft.com/office/drawing/2014/main" val="1178272611"/>
                    </a:ext>
                  </a:extLst>
                </a:gridCol>
              </a:tblGrid>
              <a:tr h="279356">
                <a:tc gridSpan="2">
                  <a:txBody>
                    <a:bodyPr/>
                    <a:lstStyle/>
                    <a:p>
                      <a:r>
                        <a:rPr lang="fr-FR"/>
                        <a:t>Données communes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828207"/>
                  </a:ext>
                </a:extLst>
              </a:tr>
              <a:tr h="27935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code_departement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 unique du département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3543933"/>
                  </a:ext>
                </a:extLst>
              </a:tr>
              <a:tr h="27935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code_commune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code unique de commune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9939936"/>
                  </a:ext>
                </a:extLst>
              </a:tr>
              <a:tr h="27935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PMUN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de la municipalité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4990263"/>
                  </a:ext>
                </a:extLst>
              </a:tr>
              <a:tr h="279356">
                <a:tc>
                  <a:txBody>
                    <a:bodyPr/>
                    <a:lstStyle/>
                    <a:p>
                      <a:pPr algn="l" fontAlgn="t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PCAP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en plus 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63700860"/>
                  </a:ext>
                </a:extLst>
              </a:tr>
              <a:tr h="465368">
                <a:tc>
                  <a:txBody>
                    <a:bodyPr/>
                    <a:lstStyle/>
                    <a:p>
                      <a:pPr algn="l" fontAlgn="t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PTOT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population total d'une commune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4574547"/>
                  </a:ext>
                </a:extLst>
              </a:tr>
            </a:tbl>
          </a:graphicData>
        </a:graphic>
      </p:graphicFrame>
      <p:cxnSp>
        <p:nvCxnSpPr>
          <p:cNvPr id="7" name="Connecteur : en angle 6">
            <a:extLst>
              <a:ext uri="{FF2B5EF4-FFF2-40B4-BE49-F238E27FC236}">
                <a16:creationId xmlns:a16="http://schemas.microsoft.com/office/drawing/2014/main" id="{4FAE5A2B-E578-4C66-A0DE-3BE984E04955}"/>
              </a:ext>
            </a:extLst>
          </p:cNvPr>
          <p:cNvCxnSpPr>
            <a:cxnSpLocks/>
            <a:stCxn id="10" idx="3"/>
            <a:endCxn id="11" idx="3"/>
          </p:cNvCxnSpPr>
          <p:nvPr/>
        </p:nvCxnSpPr>
        <p:spPr>
          <a:xfrm>
            <a:off x="6124442" y="1575234"/>
            <a:ext cx="12700" cy="2025067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CC72D296-71E0-441E-A9A0-DAB73403D1DB}"/>
              </a:ext>
            </a:extLst>
          </p:cNvPr>
          <p:cNvCxnSpPr>
            <a:cxnSpLocks/>
            <a:stCxn id="11" idx="1"/>
            <a:endCxn id="4" idx="3"/>
          </p:cNvCxnSpPr>
          <p:nvPr/>
        </p:nvCxnSpPr>
        <p:spPr>
          <a:xfrm rot="10800000">
            <a:off x="2601984" y="2845649"/>
            <a:ext cx="1431178" cy="7546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Le schéma relationnel normalisé</a:t>
            </a:r>
            <a:endParaRPr b="0"/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317F91C-AD5F-4512-A7EB-ABE4C64CF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573" y="1017748"/>
            <a:ext cx="4217773" cy="3798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90523" y="513184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base de données avec les tables créées et les données chargées</a:t>
            </a:r>
            <a:endParaRPr b="0"/>
          </a:p>
        </p:txBody>
      </p:sp>
      <p:sp>
        <p:nvSpPr>
          <p:cNvPr id="313" name="Google Shape;313;p39"/>
          <p:cNvSpPr txBox="1">
            <a:spLocks noGrp="1"/>
          </p:cNvSpPr>
          <p:nvPr>
            <p:ph type="body" idx="2"/>
          </p:nvPr>
        </p:nvSpPr>
        <p:spPr>
          <a:xfrm>
            <a:off x="2165136" y="1374161"/>
            <a:ext cx="3199344" cy="355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+----------------------------------------------------------------------------------+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sql            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+----------------------------------------------------------------------------------+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CREATE TABLE bien (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id_bien INTEGER PRIMARY KEY,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id_codedep_codecommune TEXT NOT NULL,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no_voie INTEGER,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btq TEXT,      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type_voie TEXT,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total_piece INTEGER,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surface_carrez FLOAT,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surface_local INTEGER,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type_local TEXT, voie TEXT NOT NULL,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FOREIGN KEY (id_codedep_codecommune) REFERENCES commune(id_codedep_codecommune)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)              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CREATE TABLE commune (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id_codedep_codecommune TEXT PRIMARY KEY,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id_region TEXT NOT NULL,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code_departement INTEGER NOT NULL,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nom_commune TEXT NOT NULL,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pmun INTEGER,  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pcap INTEGER,  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code_commune INTEGER NOT NULL,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-- Attribut calculé ptot --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ptot INTEGER GENERATED ALWAYS AS (COALESCE(pmun, 0) + COALESCE(pcap, 0)) STORED,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-- --          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FOREIGN KEY (id_region) REFERENCES region(id_region)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)              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CREATE TABLE region (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id_region TEXT PRIMARY KEY,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code_region INTEGER NOT NULL,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nom_region TEXT NOT NULL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)              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CREATE TABLE vente (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id_vente INTEGER PRIMARY KEY,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id_bien INTEGER NOT NULL,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date DATE NOT NULL,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valeur INTEGER,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FOREIGN KEY (id_bien) REFERENCES bien(id_bien)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| )                                                             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/>
              <a:t>+----------------------------------------------------------------------------------+</a:t>
            </a:r>
            <a:endParaRPr sz="600"/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4689794" cy="39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/>
              <a:t>Les requêtes bon chargement SGBD</a:t>
            </a:r>
            <a:endParaRPr sz="2400" b="0"/>
          </a:p>
        </p:txBody>
      </p:sp>
      <p:sp>
        <p:nvSpPr>
          <p:cNvPr id="322" name="Google Shape;322;p40"/>
          <p:cNvSpPr txBox="1">
            <a:spLocks noGrp="1"/>
          </p:cNvSpPr>
          <p:nvPr>
            <p:ph type="body" idx="2"/>
          </p:nvPr>
        </p:nvSpPr>
        <p:spPr>
          <a:xfrm>
            <a:off x="390523" y="837337"/>
            <a:ext cx="8753477" cy="3648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sz="11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SELECT * FROM bien LIMIT 5 :</a:t>
            </a:r>
            <a:br>
              <a:rPr lang="fr" sz="1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</a:b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+---------+------------------------+---------+-----------+-----------+-------------+----------------+---------------+-------------+------------------------+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id_bien | id_codedep_codecommune | no_voie | btq       | type_voie | total_piece | surface_carrez | surface_local | type_local  | voie 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+---------+------------------------+---------+-----------+-----------+-------------+----------------+---------------+-------------+------------------------+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2       | 1-103                  | 20      | &lt;null&gt;    | RUE       | 3           | 48.22          | 48            | Appartement | DU CHATEAU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3       | 6-4                    | 1000    | &lt;null&gt;    | BD        | 1           | 39.11          | 40            | Appartement | EDOUARD BAUDOIN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4       | 6-88                   | 3975    | 22950020B | RUE       | 3           | 80.25          | 82            | Appartement | MARCEAU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5       | 6-123                  | 1011    | &lt;null&gt;    | RTE       | 1           | 27.51          | 27            | Appartement | DES VESPINS RN7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6       | 13-5                   | A084    | &lt;null&gt;    | RES       | 2           | 47.33          | 47            | Appartement | LES ARPEGES BD DES ABA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+---------+------------------------+---------+-----------+-----------+-------------+----------------+---------------+-------------+------------------------+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0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SELECT * FROM vente LIMIT 5 :</a:t>
            </a:r>
            <a:br>
              <a:rPr lang="fr-FR" sz="10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</a:b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+----------+---------+------------+--------+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id_vente | id_bien | date       | valeur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+----------+---------+------------+--------+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2        | 2       | 2020/01/02 | 165000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3        | 3       | 2020/01/02 | 355680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4        | 4       | 2020/01/02 | 229500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5        | 5       | 2020/01/02 | 125000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6        | 6       | 2020/01/02 | 90000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+----------+---------+------------+--------+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10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SELECT * FROM commune LIMIT 5 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+------------------------+-----------+------------------+-------------------------+-------+------+--------------+-------+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id_codedep_codecommune | id_region | code_departement | nom_commune             | pmun  | pcap | code_commune | ptot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+------------------------+-----------+------------------+-------------------------+-------+------+--------------+-------+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1-1                    | R84       | 1                | L'Abergement-Clémenciat | 779   | 19   | 1            | 798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1-2                    | R84       | 1                | L'Abergement-de-Varey   | 256   | 1    | 2            | 257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1-4                    | R84       | 1                | Ambérieu-en-Bugey       | 14134 | 380  | 4            | 14514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1-5                    | R84       | 1                | Ambérieux-en-Dombes     | 1751  | 25   | 5            | 1776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1-6                    | R84       | 1                | Ambléon                 | 112   | 6    | 6            | 118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+------------------------+-----------+------------------+-------------------------+-------+------+--------------+-------+</a:t>
            </a:r>
            <a:b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</a:br>
            <a:r>
              <a:rPr lang="fr-FR" sz="10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SELECT * FROM region LIMIT 5 :</a:t>
            </a:r>
            <a:br>
              <a:rPr lang="fr-FR" sz="10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</a:b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+-----------+-------------+----------------------------+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id_region | code_region | nom_region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+-----------+-------------+----------------------------+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R84       | 84          | Auvergne-Rhône-Alpes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R32       | 32          | Hauts-de-France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R93       | 93          | Provence-Alpes-Côte d'Azur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R44       | 44          | Grand Est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| R76       | 76          | Occitanie                  |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600"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</a:rPr>
              <a:t>+-----------+-------------+----------------------------+</a:t>
            </a:r>
            <a:endParaRPr sz="600"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</a:endParaRPr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1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Data Analyse</a:t>
            </a:r>
            <a:endParaRPr/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Nb total de vente d’appartement premier semestre 2020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90523" y="1552755"/>
            <a:ext cx="2535557" cy="152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	COUNT(id_vente) as nb_vente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vente, bien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	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	lower(type_local)="appartement"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	date BETWEEN '2020/01/01' AND '2020/06/30’;</a:t>
            </a: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endParaRPr lang="en-US" sz="600" b="0" i="0" u="none" strike="noStrike" cap="none">
              <a:solidFill>
                <a:schemeClr val="dk1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sym typeface="Calibri"/>
            </a:endParaRP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+----------+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| nb_vente |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+----------+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| 31378    |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+----------+</a:t>
            </a:r>
          </a:p>
        </p:txBody>
      </p:sp>
    </p:spTree>
    <p:extLst>
      <p:ext uri="{BB962C8B-B14F-4D97-AF65-F5344CB8AC3E}">
        <p14:creationId xmlns:p14="http://schemas.microsoft.com/office/powerpoint/2010/main" val="329254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2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Le nombre de ventes d’appartement par région pour le 1er semestre 2020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90523" y="1552755"/>
            <a:ext cx="2535557" cy="300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COUNT(id_vente) as nb_vente,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nom_region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vente, bien, commune, region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bien.id_codedep_codecommune = commune.id_codedep_codecommune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commune.id_region = region.id_region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LOWER(type_local) = 'appartement'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date BETWEEN '2020/01/01' AND '2020/06/30'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	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GROUP BY nom_region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ORDER BY nb_vente DESC</a:t>
            </a: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"nb_vente","nom_region"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"13995","Ile-de-France"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"3649","Provence-Alpes-Côte d'Azur"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"3253","Auvergne-Rhône-Alpes"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"1932","Nouvelle-Aquitaine"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"1640","Occitanie"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"1357","Pays de la Loire"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"1254","Hauts-de-France"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"984","Grand Est"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"983","Bretagne"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"862","Normandie"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"696","Centre-Val de Loire"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"376","Bourgogne-Franche-Comté"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"223","Corse"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"94","Martinique"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"44","La Réunion"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"34","Guyane"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"2","Guadeloupe"</a:t>
            </a: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endParaRPr lang="en-US" sz="600" b="0" i="0" u="none" strike="noStrike" cap="none">
              <a:solidFill>
                <a:schemeClr val="dk1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sym typeface="Calibri"/>
            </a:endParaRPr>
          </a:p>
        </p:txBody>
      </p:sp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09BFDD2E-6D9C-4CFC-B415-C33FB455D3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96556"/>
              </p:ext>
            </p:extLst>
          </p:nvPr>
        </p:nvGraphicFramePr>
        <p:xfrm>
          <a:off x="2981064" y="1390813"/>
          <a:ext cx="5015253" cy="3475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72036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3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Proportion des ventes d’appartements par le nombre de pièces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90523" y="1552755"/>
            <a:ext cx="2535557" cy="300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WITH total_ventes AS (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SELECT COUNT(*) as total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FROM vente, bien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WHERE vente.id_bien = bien.id_bien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AND LOWER(type_local) = 'appartement'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)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COUNT(id_vente) as nb_vente,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total_piece,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ROUND(COUNT(id_vente) * 100.0 / total_ventes.total, 2) as proportion_pct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vente, bien, total_ventes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LOWER(type_local) = 'appartement'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GROUP BY total_piece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ORDER BY nb_vente DESC;</a:t>
            </a: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endParaRPr lang="en-US" sz="600" b="0" i="0" u="none" strike="noStrike" cap="none">
              <a:solidFill>
                <a:schemeClr val="dk1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sym typeface="Calibri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AAF5F7AE-BA36-40AA-98B0-1072D1E96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315449"/>
              </p:ext>
            </p:extLst>
          </p:nvPr>
        </p:nvGraphicFramePr>
        <p:xfrm>
          <a:off x="435541" y="3059696"/>
          <a:ext cx="1424284" cy="14987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6009">
                  <a:extLst>
                    <a:ext uri="{9D8B030D-6E8A-4147-A177-3AD203B41FA5}">
                      <a16:colId xmlns:a16="http://schemas.microsoft.com/office/drawing/2014/main" val="4027348838"/>
                    </a:ext>
                  </a:extLst>
                </a:gridCol>
                <a:gridCol w="547809">
                  <a:extLst>
                    <a:ext uri="{9D8B030D-6E8A-4147-A177-3AD203B41FA5}">
                      <a16:colId xmlns:a16="http://schemas.microsoft.com/office/drawing/2014/main" val="2168184370"/>
                    </a:ext>
                  </a:extLst>
                </a:gridCol>
                <a:gridCol w="340466">
                  <a:extLst>
                    <a:ext uri="{9D8B030D-6E8A-4147-A177-3AD203B41FA5}">
                      <a16:colId xmlns:a16="http://schemas.microsoft.com/office/drawing/2014/main" val="186756467"/>
                    </a:ext>
                  </a:extLst>
                </a:gridCol>
              </a:tblGrid>
              <a:tr h="287177">
                <a:tc>
                  <a:txBody>
                    <a:bodyPr/>
                    <a:lstStyle/>
                    <a:p>
                      <a:pPr algn="l" fontAlgn="ctr"/>
                      <a:r>
                        <a:rPr lang="fr-FR" sz="600" u="none" strike="noStrike">
                          <a:effectLst/>
                        </a:rPr>
                        <a:t>nb_vente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total_piece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proportion_pct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0359045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9783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2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31.18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2589036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8966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3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28.57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2861417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6739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1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21.48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3874793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4460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4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14.21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8173617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1114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5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3.55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1582582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204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6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0.65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564040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54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7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0.17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2162959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30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0.1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9977645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17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8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0.05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4612550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8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9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0.03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2201354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2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10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0.01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2002206"/>
                  </a:ext>
                </a:extLst>
              </a:tr>
              <a:tr h="99284">
                <a:tc>
                  <a:txBody>
                    <a:bodyPr/>
                    <a:lstStyle/>
                    <a:p>
                      <a:pPr algn="r" fontAlgn="ctr"/>
                      <a:r>
                        <a:rPr lang="fr-FR" sz="600" u="none" strike="noStrike">
                          <a:effectLst/>
                        </a:rPr>
                        <a:t>1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11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0.0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921176"/>
                  </a:ext>
                </a:extLst>
              </a:tr>
            </a:tbl>
          </a:graphicData>
        </a:graphic>
      </p:graphicFrame>
      <p:graphicFrame>
        <p:nvGraphicFramePr>
          <p:cNvPr id="9" name="Graphique 8">
            <a:extLst>
              <a:ext uri="{FF2B5EF4-FFF2-40B4-BE49-F238E27FC236}">
                <a16:creationId xmlns:a16="http://schemas.microsoft.com/office/drawing/2014/main" id="{8C407158-93D7-46F1-8CBE-2B14AEAC14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6337370"/>
              </p:ext>
            </p:extLst>
          </p:nvPr>
        </p:nvGraphicFramePr>
        <p:xfrm>
          <a:off x="2752725" y="1482756"/>
          <a:ext cx="4891088" cy="3114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3421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4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Liste des 10 départements où le prix du mètre carré est le plus élevé.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90523" y="1552755"/>
            <a:ext cx="2535557" cy="300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code_departement,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ROUND(valeur/surface_carrez) as prix_m2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bien, vente, 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 	vente.id_bien = bien.id_bien AND	bien.id_codedep_codecommune = commune.id_codedep_codecommune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GROUP BY code_departement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ORDER BY prix_m2 DESC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LIMIT 10;</a:t>
            </a: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code_departement	prix_m2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75	11880.0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6	9094.0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34	8332.0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73	7782.0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35	6411.0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5	5516.0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92	5414.0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78	5290.0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2A	4975.0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974	4774.0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endParaRPr lang="en-US" sz="600" b="0" i="0" u="none" strike="noStrike" cap="none">
              <a:solidFill>
                <a:schemeClr val="dk1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sym typeface="Calibri"/>
            </a:endParaRPr>
          </a:p>
        </p:txBody>
      </p:sp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FBD5AEE7-936D-4DEA-B300-23E8BB98E9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4397759"/>
              </p:ext>
            </p:extLst>
          </p:nvPr>
        </p:nvGraphicFramePr>
        <p:xfrm>
          <a:off x="3153593" y="1391257"/>
          <a:ext cx="5044850" cy="33286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65452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5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Prix moyen du mètre carré d’une maison en Île-de-France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90523" y="1552755"/>
            <a:ext cx="2535557" cy="300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avg(valeur/surface_carrez) as prix_m2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bien, vente, commune, region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bien.id_codedep_codecommune = commune.id_codedep_codecommune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commune.id_region = region.id_region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lower(type_local)="maison"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lower(nom_region) LIKE "ile-de-france";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"prix_m2"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fr-FR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"3745.0873771713304"</a:t>
            </a:r>
            <a:endParaRPr lang="en-US" sz="600" b="0" i="0" u="none" strike="noStrike" cap="none">
              <a:solidFill>
                <a:schemeClr val="dk1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8533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6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Liste des 10 appartements les plus chers avec la région et le nombre de mètres carrés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90523" y="1552755"/>
            <a:ext cx="2535557" cy="3005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bien.id_bien,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vente.valeur,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bien.surface_carrez,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region.nom_region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bien, vente, commune, region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bien.id_codedep_codecommune = commune.id_codedep_codecommune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commune.id_region = region.id_region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lower(type_local)="appartement"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ORDER BY valeur DESC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LIMIT 10;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endParaRPr lang="en-US" sz="600" b="0" i="0" u="none" strike="noStrike" cap="none">
              <a:solidFill>
                <a:schemeClr val="dk1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sym typeface="Calibri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0039924-F1BE-4801-952C-32EC9556B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532943"/>
              </p:ext>
            </p:extLst>
          </p:nvPr>
        </p:nvGraphicFramePr>
        <p:xfrm>
          <a:off x="3682835" y="1841604"/>
          <a:ext cx="3160879" cy="2601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603">
                  <a:extLst>
                    <a:ext uri="{9D8B030D-6E8A-4147-A177-3AD203B41FA5}">
                      <a16:colId xmlns:a16="http://schemas.microsoft.com/office/drawing/2014/main" val="2256498628"/>
                    </a:ext>
                  </a:extLst>
                </a:gridCol>
                <a:gridCol w="980644">
                  <a:extLst>
                    <a:ext uri="{9D8B030D-6E8A-4147-A177-3AD203B41FA5}">
                      <a16:colId xmlns:a16="http://schemas.microsoft.com/office/drawing/2014/main" val="1318267222"/>
                    </a:ext>
                  </a:extLst>
                </a:gridCol>
                <a:gridCol w="609816">
                  <a:extLst>
                    <a:ext uri="{9D8B030D-6E8A-4147-A177-3AD203B41FA5}">
                      <a16:colId xmlns:a16="http://schemas.microsoft.com/office/drawing/2014/main" val="528512989"/>
                    </a:ext>
                  </a:extLst>
                </a:gridCol>
                <a:gridCol w="609816">
                  <a:extLst>
                    <a:ext uri="{9D8B030D-6E8A-4147-A177-3AD203B41FA5}">
                      <a16:colId xmlns:a16="http://schemas.microsoft.com/office/drawing/2014/main" val="800297851"/>
                    </a:ext>
                  </a:extLst>
                </a:gridCol>
              </a:tblGrid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id_bien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valeur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surface_carrez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600" u="none" strike="noStrike">
                          <a:effectLst/>
                        </a:rPr>
                        <a:t>nom_region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3653389848"/>
                  </a:ext>
                </a:extLst>
              </a:tr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30604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9000000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9.1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Ile-de-France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3861664249"/>
                  </a:ext>
                </a:extLst>
              </a:tr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5262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8600000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64.0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Ile-de-France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2221976728"/>
                  </a:ext>
                </a:extLst>
              </a:tr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3626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8577713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20.55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Ile-de-France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2680999060"/>
                  </a:ext>
                </a:extLst>
              </a:tr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7603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7620000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42.77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Ile-de-France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3687523350"/>
                  </a:ext>
                </a:extLst>
              </a:tr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9989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7600000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253.3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Ile-de-France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3214739970"/>
                  </a:ext>
                </a:extLst>
              </a:tr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17824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7535000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139.9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Ile-de-France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2572535467"/>
                  </a:ext>
                </a:extLst>
              </a:tr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411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7420000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360.95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Ile-de-France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2398423182"/>
                  </a:ext>
                </a:extLst>
              </a:tr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16358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7200000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595.0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Ile-de-France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2067443426"/>
                  </a:ext>
                </a:extLst>
              </a:tr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1925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7050000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122.56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Ile-de-France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1981271729"/>
                  </a:ext>
                </a:extLst>
              </a:tr>
              <a:tr h="23652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600" u="none" strike="noStrike">
                          <a:effectLst/>
                        </a:rPr>
                        <a:t>19162</a:t>
                      </a:r>
                      <a:endParaRPr lang="fr-FR" sz="6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193" marR="8193" marT="8193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6600000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79.38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600" u="none" strike="noStrike">
                          <a:effectLst/>
                        </a:rPr>
                        <a:t>Ile-de-France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93" marR="8193" marT="8193" marB="0" anchor="b"/>
                </a:tc>
                <a:extLst>
                  <a:ext uri="{0D108BD9-81ED-4DB2-BD59-A6C34878D82A}">
                    <a16:rowId xmlns:a16="http://schemas.microsoft.com/office/drawing/2014/main" val="3703907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254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7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Taux d’évolution du nombre de ventes entre le premier et le second trimestre de 2020.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90523" y="1552755"/>
            <a:ext cx="2535557" cy="159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WITH total_S1_ventes AS (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SELECT COUNT(*) as total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FROM vente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WHERE date BETWEEN '2020/01/01' AND '2020/03/31'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),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total_S2_ventes AS (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SELECT COUNT(*) as total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FROM vente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WHERE date BETWEEN '2020/04/01' AND '2020/06/30'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)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	s1.total as trimestre_1,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	s2.total as trimestre_2,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ROUND(((s2.total - s1.total) * 100.0 / s1.total), 2) as evolution_pct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total_S1_ventes as s1, total_S2_ventes as s2;</a:t>
            </a: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br>
              <a:rPr lang="en-US" sz="6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</a:br>
            <a:endParaRPr lang="en-US" sz="600" b="0" i="0" u="none" strike="noStrike" cap="none">
              <a:solidFill>
                <a:schemeClr val="dk1"/>
              </a:solidFill>
              <a:latin typeface="FiraCode Nerd Font" panose="02000009000000000000" pitchFamily="50" charset="0"/>
              <a:ea typeface="FiraCode Nerd Font" panose="02000009000000000000" pitchFamily="50" charset="0"/>
              <a:cs typeface="FiraCode Nerd Font" panose="02000009000000000000" pitchFamily="50" charset="0"/>
              <a:sym typeface="Calibri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81A17DA-D2E9-4BC7-8319-B82E93E80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014688"/>
              </p:ext>
            </p:extLst>
          </p:nvPr>
        </p:nvGraphicFramePr>
        <p:xfrm>
          <a:off x="3612940" y="2217160"/>
          <a:ext cx="3187700" cy="544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4240">
                  <a:extLst>
                    <a:ext uri="{9D8B030D-6E8A-4147-A177-3AD203B41FA5}">
                      <a16:colId xmlns:a16="http://schemas.microsoft.com/office/drawing/2014/main" val="591657614"/>
                    </a:ext>
                  </a:extLst>
                </a:gridCol>
                <a:gridCol w="1111460">
                  <a:extLst>
                    <a:ext uri="{9D8B030D-6E8A-4147-A177-3AD203B41FA5}">
                      <a16:colId xmlns:a16="http://schemas.microsoft.com/office/drawing/2014/main" val="178687768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4165186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</a:rPr>
                        <a:t>nb ventes trimestre_1</a:t>
                      </a:r>
                      <a:endParaRPr lang="fr-FR" sz="11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Nb ventes trimestre_2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evolution_pct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738068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</a:rPr>
                        <a:t>16776</a:t>
                      </a:r>
                      <a:endParaRPr lang="fr-FR" sz="11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17393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3.68%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9517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807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8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Le classement des régions par rapport au prix au mètre carré des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appartement de plus de 4 pièces.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89008" y="1703896"/>
            <a:ext cx="2535557" cy="159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region.nom_region,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ROUND(AVG(valeur/surface_carrez), 2) as prix_m2_moyen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vente, bien, commune, region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bien.id_codedep_codecommune = commune.id_codedep_codecommune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commune.id_region = region.id_region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LOWER(bien.type_local) = 'appartement'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bien.total_piece &gt; 4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GROUP BY region.nom_region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ORDER BY prix_m2_moyen DESC;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50B9774C-AD8A-43A5-A98F-7DA47C48E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484744"/>
              </p:ext>
            </p:extLst>
          </p:nvPr>
        </p:nvGraphicFramePr>
        <p:xfrm>
          <a:off x="3806772" y="1553391"/>
          <a:ext cx="3334616" cy="3262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1453">
                  <a:extLst>
                    <a:ext uri="{9D8B030D-6E8A-4147-A177-3AD203B41FA5}">
                      <a16:colId xmlns:a16="http://schemas.microsoft.com/office/drawing/2014/main" val="1618582002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2722125079"/>
                    </a:ext>
                  </a:extLst>
                </a:gridCol>
              </a:tblGrid>
              <a:tr h="297620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nom_region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prix_m2_moyen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1795974096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Ile-de-France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8770.44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2130335049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La Réunion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3641.81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3326754234"/>
                  </a:ext>
                </a:extLst>
              </a:tr>
              <a:tr h="297620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Provence-Alpes-Côte d'Azur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3587.65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3517983725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Corse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3104.88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2032969538"/>
                  </a:ext>
                </a:extLst>
              </a:tr>
              <a:tr h="297620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Auvergne-Rhône-Alpes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2891.38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2459497828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Nouvelle-Aquitaine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2465.48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1822475695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Bretagne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2412.05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2457556254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Pays de la Loire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2315.76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3806283290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Hauts-de-France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2189.93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3893276789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Occitanie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2097.23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190201278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Normandie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2015.77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1453117245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Grand Est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1540.89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537324749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Centre-Val de Loire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1453.11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3952472619"/>
                  </a:ext>
                </a:extLst>
              </a:tr>
              <a:tr h="297620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Bourgogne-Franche-Comté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1251.19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4139520395"/>
                  </a:ext>
                </a:extLst>
              </a:tr>
              <a:tr h="172653">
                <a:tc>
                  <a:txBody>
                    <a:bodyPr/>
                    <a:lstStyle/>
                    <a:p>
                      <a:pPr algn="l" fontAlgn="ctr"/>
                      <a:r>
                        <a:rPr lang="fr-FR" sz="900" u="none" strike="noStrike">
                          <a:effectLst/>
                        </a:rPr>
                        <a:t>Martinique</a:t>
                      </a:r>
                      <a:endParaRPr lang="fr-FR" sz="9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8222" marR="8222" marT="82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u="none" strike="noStrike">
                          <a:effectLst/>
                        </a:rPr>
                        <a:t>573.48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2" marR="8222" marT="8222" marB="0" anchor="b"/>
                </a:tc>
                <a:extLst>
                  <a:ext uri="{0D108BD9-81ED-4DB2-BD59-A6C34878D82A}">
                    <a16:rowId xmlns:a16="http://schemas.microsoft.com/office/drawing/2014/main" val="255964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019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9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Liste des communes ayant eu au moins 50 ventes au 1er trimestre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89008" y="1703896"/>
            <a:ext cx="2535557" cy="159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commune.nom_commune,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COUNT(vente.id_vente) as nb_vente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vente, bien, 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bien.id_codedep_codecommune = commune.id_codedep_codecommune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vente.date BETWEEN '2020/01/01' AND '2020/03/31'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GROUP BY commune.nom_commune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HAVING nb_vente &gt; 50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ORDER BY nb_vente DESC;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0B7EBDB-A1C1-4190-A0EE-4D8751BFE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562494"/>
              </p:ext>
            </p:extLst>
          </p:nvPr>
        </p:nvGraphicFramePr>
        <p:xfrm>
          <a:off x="3913626" y="1429988"/>
          <a:ext cx="1021111" cy="33966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343">
                  <a:extLst>
                    <a:ext uri="{9D8B030D-6E8A-4147-A177-3AD203B41FA5}">
                      <a16:colId xmlns:a16="http://schemas.microsoft.com/office/drawing/2014/main" val="4250024039"/>
                    </a:ext>
                  </a:extLst>
                </a:gridCol>
                <a:gridCol w="320768">
                  <a:extLst>
                    <a:ext uri="{9D8B030D-6E8A-4147-A177-3AD203B41FA5}">
                      <a16:colId xmlns:a16="http://schemas.microsoft.com/office/drawing/2014/main" val="1461375330"/>
                    </a:ext>
                  </a:extLst>
                </a:gridCol>
              </a:tblGrid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nom_commune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300" u="none" strike="noStrike">
                          <a:effectLst/>
                        </a:rPr>
                        <a:t>nb_vente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1027881651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17e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228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594882059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15e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215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523746174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18e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209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1763357530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Nice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173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76588429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11e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169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649646252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16e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165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747548706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Bordeaux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157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1856861553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14e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146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741181322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20e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127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4021273694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Nantes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119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794882960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19e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116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808713140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12e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110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856848270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10e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109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456570814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9e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106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504014396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Grenoble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106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002493707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Boulogne-Billancourt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99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2886278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13e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94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595617115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7e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87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320126787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6e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86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197366324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Marseille 8e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81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179430850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Asnières-sur-Seine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81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07890087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Courbevoie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80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1665082279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5e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79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48758063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3e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79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850053519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Toulouse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78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848029753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Antibes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77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676424698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Marseille 4e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72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642417956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Marseille 1er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71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1198565388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Vincennes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68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310701811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Rueil-Malmaison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68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350507485"/>
                  </a:ext>
                </a:extLst>
              </a:tr>
              <a:tr h="7193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Lille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67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052965128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Marseille 9e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66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230670896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Montreuil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65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367889885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Angers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64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880158339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Nîmes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63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1145108390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Sète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62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11364170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8e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62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4252340310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La Ciotat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62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482521817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Rennes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61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1464501706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2e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61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808893307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Paris 4e Arrondissement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60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79826952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Toulon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59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804584135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Levallois-Perret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59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2074087653"/>
                  </a:ext>
                </a:extLst>
              </a:tr>
              <a:tr h="88043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Saint-Maur-des-Fossés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56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829202306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Versailles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54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938362379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Ajaccio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54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689180297"/>
                  </a:ext>
                </a:extLst>
              </a:tr>
              <a:tr h="510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300" u="none" strike="noStrike">
                          <a:effectLst/>
                        </a:rPr>
                        <a:t>Puteaux</a:t>
                      </a:r>
                      <a:endParaRPr lang="fr-FR" sz="3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2350" marR="2350" marT="235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300" u="none" strike="noStrike">
                          <a:effectLst/>
                        </a:rPr>
                        <a:t>53</a:t>
                      </a:r>
                      <a:endParaRPr lang="fr-FR" sz="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50" marR="2350" marT="2350" marB="0" anchor="b"/>
                </a:tc>
                <a:extLst>
                  <a:ext uri="{0D108BD9-81ED-4DB2-BD59-A6C34878D82A}">
                    <a16:rowId xmlns:a16="http://schemas.microsoft.com/office/drawing/2014/main" val="3271715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93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10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Différence en pourcentage du prix au mètre carré entre un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appartement de 2 pièces et un appartement de 3 pièces.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89008" y="1703896"/>
            <a:ext cx="2535557" cy="284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WITH prix_m2_2p AS (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SELECT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AVG(vente.valeur/bien.surface_carrez) as avg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FROM vente, bien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WHERE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bien.total_piece = 2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LOWER(bien.type_local) = 'appartement'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),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prix_m2_3p AS (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SELECT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AVG(vente.valeur/bien.surface_carrez) as avg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FROM vente, bien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WHERE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bien.total_piece = 3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LOWER(bien.type_local) = 'appartement'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)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ROUND(p2.avg, 2) as prix_m2_2p,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ROUND(p3.avg, 2) as prix_m2_3p,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ROUND(((p3.avg - p2.avg) / p2.avg) * 100, 2) as difference_pct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prix_m2_2p p2, prix_m2_3p p3;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6B2F2E78-B422-48A6-90C6-D2149BAE6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465437"/>
              </p:ext>
            </p:extLst>
          </p:nvPr>
        </p:nvGraphicFramePr>
        <p:xfrm>
          <a:off x="3628054" y="2443872"/>
          <a:ext cx="3709817" cy="860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3165">
                  <a:extLst>
                    <a:ext uri="{9D8B030D-6E8A-4147-A177-3AD203B41FA5}">
                      <a16:colId xmlns:a16="http://schemas.microsoft.com/office/drawing/2014/main" val="1918594410"/>
                    </a:ext>
                  </a:extLst>
                </a:gridCol>
                <a:gridCol w="1198326">
                  <a:extLst>
                    <a:ext uri="{9D8B030D-6E8A-4147-A177-3AD203B41FA5}">
                      <a16:colId xmlns:a16="http://schemas.microsoft.com/office/drawing/2014/main" val="2381938323"/>
                    </a:ext>
                  </a:extLst>
                </a:gridCol>
                <a:gridCol w="1198326">
                  <a:extLst>
                    <a:ext uri="{9D8B030D-6E8A-4147-A177-3AD203B41FA5}">
                      <a16:colId xmlns:a16="http://schemas.microsoft.com/office/drawing/2014/main" val="1352201952"/>
                    </a:ext>
                  </a:extLst>
                </a:gridCol>
              </a:tblGrid>
              <a:tr h="54488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</a:rPr>
                        <a:t>prix_m2_2p</a:t>
                      </a:r>
                      <a:endParaRPr lang="fr-FR" sz="11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prix_m2_3p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difference_pct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5557085"/>
                  </a:ext>
                </a:extLst>
              </a:tr>
              <a:tr h="31609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</a:rPr>
                        <a:t>4908.57</a:t>
                      </a:r>
                      <a:endParaRPr lang="fr-FR" sz="11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4299.88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-12.4%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3919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806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11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Les moyennes de valeurs foncières pour le top 3 des communes des départements 6, 13, 33, 59 et 69. </a:t>
            </a:r>
            <a:r>
              <a:rPr lang="fr-FR">
                <a:sym typeface="Wingdings" panose="05000000000000000000" pitchFamily="2" charset="2"/>
              </a:rPr>
              <a:t> option 1, Top 3 global</a:t>
            </a:r>
            <a:endParaRPr lang="fr-FR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fr-FR"/>
          </a:p>
        </p:txBody>
      </p:sp>
      <p:sp>
        <p:nvSpPr>
          <p:cNvPr id="345" name="Google Shape;345;p42"/>
          <p:cNvSpPr txBox="1"/>
          <p:nvPr/>
        </p:nvSpPr>
        <p:spPr>
          <a:xfrm>
            <a:off x="389008" y="1703896"/>
            <a:ext cx="2535557" cy="181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ROUND(AVG(vente.valeur), 2) as vente_avg,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commune.nom_commune,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commune.code_departement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vente,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bien,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bien.id_codedep_codecommune = commune.id_codedep_codecommune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commune.code_departement IN (6, 13, 33, 59, 69)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GROUP BY commune.nom_commune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ORDER BY vente_avg DESC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LIMIT 3;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E136F8C-3EDA-41C4-8D25-E1934701A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132824"/>
              </p:ext>
            </p:extLst>
          </p:nvPr>
        </p:nvGraphicFramePr>
        <p:xfrm>
          <a:off x="3451225" y="1711814"/>
          <a:ext cx="3187700" cy="94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4977">
                  <a:extLst>
                    <a:ext uri="{9D8B030D-6E8A-4147-A177-3AD203B41FA5}">
                      <a16:colId xmlns:a16="http://schemas.microsoft.com/office/drawing/2014/main" val="31292260"/>
                    </a:ext>
                  </a:extLst>
                </a:gridCol>
                <a:gridCol w="1410723">
                  <a:extLst>
                    <a:ext uri="{9D8B030D-6E8A-4147-A177-3AD203B41FA5}">
                      <a16:colId xmlns:a16="http://schemas.microsoft.com/office/drawing/2014/main" val="49001835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3722752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</a:rPr>
                        <a:t>vente_avg</a:t>
                      </a:r>
                      <a:endParaRPr lang="fr-FR" sz="11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nom_commune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code_departement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13425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</a:rPr>
                        <a:t>968750.0</a:t>
                      </a:r>
                      <a:endParaRPr lang="fr-FR" sz="11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Saint-Jean-Cap-Ferrat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86347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</a:rPr>
                        <a:t>655000.0</a:t>
                      </a:r>
                      <a:endParaRPr lang="fr-FR" sz="11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Eze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403509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u="none" strike="noStrike">
                          <a:effectLst/>
                        </a:rPr>
                        <a:t>549500.64</a:t>
                      </a:r>
                      <a:endParaRPr lang="fr-FR" sz="11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u="none" strike="noStrike">
                          <a:effectLst/>
                        </a:rPr>
                        <a:t>Lège-Cap-Ferret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u="none" strike="noStrike">
                          <a:effectLst/>
                        </a:rPr>
                        <a:t>33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1521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668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11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Les moyennes de valeurs foncières pour le top 3 des communes des départements 6, 13, 33, 59 et 69. </a:t>
            </a:r>
            <a:r>
              <a:rPr lang="fr-FR">
                <a:sym typeface="Wingdings" panose="05000000000000000000" pitchFamily="2" charset="2"/>
              </a:rPr>
              <a:t> option 2, Top 3 département</a:t>
            </a:r>
            <a:endParaRPr lang="fr-FR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 lang="fr-FR"/>
          </a:p>
        </p:txBody>
      </p:sp>
      <p:sp>
        <p:nvSpPr>
          <p:cNvPr id="345" name="Google Shape;345;p42"/>
          <p:cNvSpPr txBox="1"/>
          <p:nvPr/>
        </p:nvSpPr>
        <p:spPr>
          <a:xfrm>
            <a:off x="389008" y="1703896"/>
            <a:ext cx="2535557" cy="252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WITH classement AS (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ROUND(AVG(vente.valeur), 2) as valeur_moy,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commune.nom_commune,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commune.code_departement,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ROW_NUMBER() OVER (PARTITION BY commune.code_departement ORDER BY AVG(vente.valeur) DESC) as rang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FROM vente, bien, 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WHERE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bien.id_codedep_codecommune = commune.id_codedep_codecommune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    commune.code_departement IN (6, 13, 33, 59, 69)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    GROUP BY commune.nom_commune, commune.code_departement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)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valeur_moy, nom_commune, code_departement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 classement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 rang &lt;= 3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ORDER BY code_departement, rang;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4481DF9-ADFA-4664-8A2F-DFA3F6B53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467239"/>
              </p:ext>
            </p:extLst>
          </p:nvPr>
        </p:nvGraphicFramePr>
        <p:xfrm>
          <a:off x="3767629" y="1641874"/>
          <a:ext cx="2871295" cy="32623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1072">
                  <a:extLst>
                    <a:ext uri="{9D8B030D-6E8A-4147-A177-3AD203B41FA5}">
                      <a16:colId xmlns:a16="http://schemas.microsoft.com/office/drawing/2014/main" val="3526487477"/>
                    </a:ext>
                  </a:extLst>
                </a:gridCol>
                <a:gridCol w="1103939">
                  <a:extLst>
                    <a:ext uri="{9D8B030D-6E8A-4147-A177-3AD203B41FA5}">
                      <a16:colId xmlns:a16="http://schemas.microsoft.com/office/drawing/2014/main" val="2293852973"/>
                    </a:ext>
                  </a:extLst>
                </a:gridCol>
                <a:gridCol w="976284">
                  <a:extLst>
                    <a:ext uri="{9D8B030D-6E8A-4147-A177-3AD203B41FA5}">
                      <a16:colId xmlns:a16="http://schemas.microsoft.com/office/drawing/2014/main" val="3727870419"/>
                    </a:ext>
                  </a:extLst>
                </a:gridCol>
              </a:tblGrid>
              <a:tr h="232472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valeur_moy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nom_commune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code_departement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3156317070"/>
                  </a:ext>
                </a:extLst>
              </a:tr>
              <a:tr h="232472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968750.0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Saint-Jean-Cap-Ferrat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6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797178336"/>
                  </a:ext>
                </a:extLst>
              </a:tr>
              <a:tr h="13485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655000.0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Eze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6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1951524869"/>
                  </a:ext>
                </a:extLst>
              </a:tr>
              <a:tr h="232472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476898.1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Mouans-Sartoux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6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1359653916"/>
                  </a:ext>
                </a:extLst>
              </a:tr>
              <a:tr h="232472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330000.0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Gignac-la-Nerthe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13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32936268"/>
                  </a:ext>
                </a:extLst>
              </a:tr>
              <a:tr h="232472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314425.0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Saint-Savournin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13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2370959740"/>
                  </a:ext>
                </a:extLst>
              </a:tr>
              <a:tr h="13485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313416.88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Cassis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13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3852453813"/>
                  </a:ext>
                </a:extLst>
              </a:tr>
              <a:tr h="232472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549500.64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Lège-Cap-Ferret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33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3246577776"/>
                  </a:ext>
                </a:extLst>
              </a:tr>
              <a:tr h="13485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335000.0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Vayres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33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3683798148"/>
                  </a:ext>
                </a:extLst>
              </a:tr>
              <a:tr h="13485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307435.93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Arcachon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33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2013500956"/>
                  </a:ext>
                </a:extLst>
              </a:tr>
              <a:tr h="13485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433202.0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Bersée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59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1044083473"/>
                  </a:ext>
                </a:extLst>
              </a:tr>
              <a:tr h="13485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408550.0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Cysoing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59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344477116"/>
                  </a:ext>
                </a:extLst>
              </a:tr>
              <a:tr h="134859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322250.0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Halluin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59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4072523709"/>
                  </a:ext>
                </a:extLst>
              </a:tr>
              <a:tr h="232472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485300.0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Ville-sur-Jarnioux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69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2743643559"/>
                  </a:ext>
                </a:extLst>
              </a:tr>
              <a:tr h="345497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455217.27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Lyon 2e Arrondissement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69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3245040587"/>
                  </a:ext>
                </a:extLst>
              </a:tr>
              <a:tr h="345497">
                <a:tc>
                  <a:txBody>
                    <a:bodyPr/>
                    <a:lstStyle/>
                    <a:p>
                      <a:pPr algn="l" fontAlgn="ctr"/>
                      <a:r>
                        <a:rPr lang="fr-FR" sz="700" u="none" strike="noStrike">
                          <a:effectLst/>
                        </a:rPr>
                        <a:t>426968.25</a:t>
                      </a:r>
                      <a:endParaRPr lang="fr-FR" sz="7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6422" marR="6422" marT="642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700" u="none" strike="noStrike">
                          <a:effectLst/>
                        </a:rPr>
                        <a:t>Lyon 6e Arrondissement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700" u="none" strike="noStrike">
                          <a:effectLst/>
                        </a:rPr>
                        <a:t>69</a:t>
                      </a:r>
                      <a:endParaRPr lang="fr-FR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22" marR="6422" marT="6422" marB="0" anchor="b"/>
                </a:tc>
                <a:extLst>
                  <a:ext uri="{0D108BD9-81ED-4DB2-BD59-A6C34878D82A}">
                    <a16:rowId xmlns:a16="http://schemas.microsoft.com/office/drawing/2014/main" val="366188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140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12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Les 20 communes avec le plus de transactions pour 1000 habitants pour les communes qui dépassent les 10 000 habitants.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89008" y="1703896"/>
            <a:ext cx="2535557" cy="15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commune.ptot,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commune.nom_commune,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ROUND((COUNT(vente.id_bien) * 1000 / commune.ptot), 2) as vente_per_1000_hab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vente, bien, 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bien.id_codedep_codecommune = commune.id_codedep_codecommune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commune.ptot &gt; 10000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GROUP BY commune.nom_commune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ORDER BY vente_per_1000_hab DESC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LIMIT 20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C3AB459-9410-49E4-BC6A-6EF302374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153151"/>
              </p:ext>
            </p:extLst>
          </p:nvPr>
        </p:nvGraphicFramePr>
        <p:xfrm>
          <a:off x="3339997" y="1580582"/>
          <a:ext cx="3540952" cy="3262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1203">
                  <a:extLst>
                    <a:ext uri="{9D8B030D-6E8A-4147-A177-3AD203B41FA5}">
                      <a16:colId xmlns:a16="http://schemas.microsoft.com/office/drawing/2014/main" val="3241434890"/>
                    </a:ext>
                  </a:extLst>
                </a:gridCol>
                <a:gridCol w="1234528">
                  <a:extLst>
                    <a:ext uri="{9D8B030D-6E8A-4147-A177-3AD203B41FA5}">
                      <a16:colId xmlns:a16="http://schemas.microsoft.com/office/drawing/2014/main" val="4006507509"/>
                    </a:ext>
                  </a:extLst>
                </a:gridCol>
                <a:gridCol w="1015221">
                  <a:extLst>
                    <a:ext uri="{9D8B030D-6E8A-4147-A177-3AD203B41FA5}">
                      <a16:colId xmlns:a16="http://schemas.microsoft.com/office/drawing/2014/main" val="3336767457"/>
                    </a:ext>
                  </a:extLst>
                </a:gridCol>
              </a:tblGrid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ptot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nom_commune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vente_per_1000_hab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3740746438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21735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2e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5.0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132840631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29390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4e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528882843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34306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3e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809241136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16055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1er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606686907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16797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La Baule-Escoublac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3699824394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11898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Arcachon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552278365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17160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Sanary-sur-Mer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027335881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22576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Saint-Mandé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598876698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11725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Saint-Cyr-sur-Mer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3279538376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13041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Roquebrune-Cap-Martin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45645500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11440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Pornichet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912073789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60563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9e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286948653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36250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8e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35922309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41171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6e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995929160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86863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10e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493617995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10776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La Londe-les-Maures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418843752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11178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Chantilly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161390715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50230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Vincennes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2.0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469255056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16521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Villeneuve-Loubet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2.0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3006103661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l" fontAlgn="ctr"/>
                      <a:r>
                        <a:rPr lang="fr-FR" sz="800" u="none" strike="noStrike">
                          <a:effectLst/>
                        </a:rPr>
                        <a:t>27543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Vallauris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2.0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314809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490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Requête 13</a:t>
            </a: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DATAImmo</a:t>
            </a:r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23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/>
              <a:t>Les 20 communes avec le plus de transactions pour 1000 habitants pour les communes qui dépassent les 10 000 habitants.</a:t>
            </a:r>
          </a:p>
        </p:txBody>
      </p:sp>
      <p:sp>
        <p:nvSpPr>
          <p:cNvPr id="345" name="Google Shape;345;p42"/>
          <p:cNvSpPr txBox="1"/>
          <p:nvPr/>
        </p:nvSpPr>
        <p:spPr>
          <a:xfrm>
            <a:off x="389008" y="1703896"/>
            <a:ext cx="2535557" cy="15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SELECT 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commune.ptot,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commune.nom_commune,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ROUND((COUNT(vente.id_bien) * 1000 / commune.ptot), 2) as vente_per_1000_hab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FROM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vente, bien, 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WHERE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vente.id_bien = bien.id_bien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bien.id_codedep_codecommune = commune.id_codedep_codecommune AND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commune.ptot &gt; 10000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GROUP BY commune.nom_commune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ORDER BY vente_per_1000_hab DESC</a:t>
            </a:r>
          </a:p>
          <a:p>
            <a: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</a:pPr>
            <a:r>
              <a:rPr lang="en-US" sz="700" b="0" i="0" u="none" strike="noStrike" cap="none">
                <a:solidFill>
                  <a:schemeClr val="dk1"/>
                </a:solidFill>
                <a:latin typeface="FiraCode Nerd Font" panose="02000009000000000000" pitchFamily="50" charset="0"/>
                <a:ea typeface="FiraCode Nerd Font" panose="02000009000000000000" pitchFamily="50" charset="0"/>
                <a:cs typeface="FiraCode Nerd Font" panose="02000009000000000000" pitchFamily="50" charset="0"/>
                <a:sym typeface="Calibri"/>
              </a:rPr>
              <a:t>LIMIT 20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BC3AB459-9410-49E4-BC6A-6EF302374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579762"/>
              </p:ext>
            </p:extLst>
          </p:nvPr>
        </p:nvGraphicFramePr>
        <p:xfrm>
          <a:off x="3339997" y="1580582"/>
          <a:ext cx="3540952" cy="3262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1203">
                  <a:extLst>
                    <a:ext uri="{9D8B030D-6E8A-4147-A177-3AD203B41FA5}">
                      <a16:colId xmlns:a16="http://schemas.microsoft.com/office/drawing/2014/main" val="3241434890"/>
                    </a:ext>
                  </a:extLst>
                </a:gridCol>
                <a:gridCol w="1234528">
                  <a:extLst>
                    <a:ext uri="{9D8B030D-6E8A-4147-A177-3AD203B41FA5}">
                      <a16:colId xmlns:a16="http://schemas.microsoft.com/office/drawing/2014/main" val="4006507509"/>
                    </a:ext>
                  </a:extLst>
                </a:gridCol>
                <a:gridCol w="1015221">
                  <a:extLst>
                    <a:ext uri="{9D8B030D-6E8A-4147-A177-3AD203B41FA5}">
                      <a16:colId xmlns:a16="http://schemas.microsoft.com/office/drawing/2014/main" val="3336767457"/>
                    </a:ext>
                  </a:extLst>
                </a:gridCol>
              </a:tblGrid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ptot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nom_commune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vente_per_1000_hab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3740746438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21735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2e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5.0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132840631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29390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4e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528882843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34306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3e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809241136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16055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1er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606686907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16797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La Baule-Escoublac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3699824394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11898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Arcachon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4.0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552278365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17160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Sanary-sur-Mer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027335881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22576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Saint-Mandé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598876698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11725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Saint-Cyr-sur-Mer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3279538376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13041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Roquebrune-Cap-Martin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45645500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11440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Pornichet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912073789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60563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9e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286948653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36250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8e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35922309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41171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6e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995929160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86863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Paris 10e Arrondissement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493617995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10776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La Londe-les-Maures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418843752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11178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Chantilly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3.0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161390715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50230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Vincennes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2.0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1469255056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16521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Villeneuve-Loubet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2.0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3006103661"/>
                  </a:ext>
                </a:extLst>
              </a:tr>
              <a:tr h="15534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27543</a:t>
                      </a:r>
                      <a:endParaRPr lang="fr-FR" sz="800" b="0" i="0" u="none" strike="noStrike">
                        <a:solidFill>
                          <a:srgbClr val="839496"/>
                        </a:solidFill>
                        <a:effectLst/>
                        <a:latin typeface="FiraCode Nerd Font" panose="02000009000000000000" pitchFamily="50" charset="0"/>
                      </a:endParaRPr>
                    </a:p>
                  </a:txBody>
                  <a:tcPr marL="7398" marR="7398" marT="739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800" u="none" strike="noStrike">
                          <a:effectLst/>
                        </a:rPr>
                        <a:t>Vallauris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800" u="none" strike="noStrike">
                          <a:effectLst/>
                        </a:rPr>
                        <a:t>2.0</a:t>
                      </a: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398" marR="7398" marT="7398" marB="0" anchor="b"/>
                </a:tc>
                <a:extLst>
                  <a:ext uri="{0D108BD9-81ED-4DB2-BD59-A6C34878D82A}">
                    <a16:rowId xmlns:a16="http://schemas.microsoft.com/office/drawing/2014/main" val="2314809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568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3846</Words>
  <Application>Microsoft Office PowerPoint</Application>
  <PresentationFormat>Affichage à l'écran (16:9)</PresentationFormat>
  <Paragraphs>872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FiraCode Nerd Font</vt:lpstr>
      <vt:lpstr>Arial</vt:lpstr>
      <vt:lpstr>Arial Black</vt:lpstr>
      <vt:lpstr>Calibri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base de données avec les tables créées et les données chargées</vt:lpstr>
      <vt:lpstr>Les requêtes bon chargement SGBD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8</vt:lpstr>
      <vt:lpstr>Requête 9</vt:lpstr>
      <vt:lpstr>Requête 10</vt:lpstr>
      <vt:lpstr>Requête 11</vt:lpstr>
      <vt:lpstr>Requête 11</vt:lpstr>
      <vt:lpstr>Requête 12</vt:lpstr>
      <vt:lpstr>Requête 13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Création et utilisation de la base de données</dc:title>
  <dc:creator>Derue William</dc:creator>
  <cp:lastModifiedBy>Derue William</cp:lastModifiedBy>
  <cp:revision>16</cp:revision>
  <dcterms:modified xsi:type="dcterms:W3CDTF">2025-10-15T10:22:16Z</dcterms:modified>
</cp:coreProperties>
</file>